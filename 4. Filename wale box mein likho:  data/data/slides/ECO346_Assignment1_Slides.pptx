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5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91F26"/>
                </a:solidFill>
                <a:latin typeface="Aptos"/>
              </a:defRPr>
            </a:pPr>
            <a:r>
              <a:t>ECO346</a:t>
            </a:r>
            <a:br/>
            <a:r>
              <a:t>Data Visualization Techniques for Economists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B5B87"/>
                </a:solidFill>
                <a:latin typeface="Aptos"/>
              </a:defRPr>
            </a:pPr>
            <a:r>
              <a:t>Assignment 1 | Variant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49039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5F6872"/>
                </a:solidFill>
                <a:latin typeface="Aptos"/>
              </a:defRPr>
            </a:pPr>
            <a:r>
              <a:t>Rural Khyber Pakhtunkhwa • PSLM 2019–20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9788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F6872"/>
                </a:solidFill>
                <a:latin typeface="Aptos"/>
              </a:defRPr>
            </a:pPr>
            <a:r>
              <a:t>Repository: areeba12-tech/ECO346-A1-FA24-BEDS-012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91F26"/>
                </a:solidFill>
                <a:latin typeface="Aptos"/>
              </a:defRPr>
            </a:pPr>
            <a:r>
              <a:t>Q2 | Annual Education Spending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F6872"/>
                </a:solidFill>
                <a:latin typeface="Aptos"/>
              </a:defRPr>
            </a:pPr>
            <a:r>
              <a:t>Weighted histogram • Rural Khyber Pakhtunkhwa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27080" cy="22860"/>
          </a:xfrm>
          <a:prstGeom prst="rect">
            <a:avLst/>
          </a:prstGeom>
          <a:solidFill>
            <a:srgbClr val="2B5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F687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7548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2B5B87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191F26"/>
                </a:solidFill>
                <a:latin typeface="Aptos"/>
              </a:defRPr>
            </a:pPr>
            <a:r>
              <a:t>How is annual education spending distributed across the selected observations?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2B5B87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47548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191F26"/>
                </a:solidFill>
                <a:latin typeface="Aptos"/>
              </a:defRPr>
            </a:pPr>
            <a:r>
              <a:t>A histogram uses household weights (hhweight) to show the weighted frequency of reported education spending. Observations with missing or non-positive spending are excluded.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783080"/>
            <a:ext cx="5303520" cy="356616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B5B87"/>
                </a:solidFill>
                <a:latin typeface="Aptos"/>
              </a:defRPr>
            </a:pPr>
            <a:r>
              <a:t>Q2 Histogram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46120"/>
            <a:ext cx="4572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5F6872"/>
                </a:solidFill>
                <a:latin typeface="Aptos"/>
              </a:defRPr>
            </a:pPr>
            <a:r>
              <a:t>See figures/q2_histogram.svg</a:t>
            </a:r>
            <a:br/>
            <a:r>
              <a:t>in the GitHub repository.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872"/>
                </a:solidFill>
                <a:latin typeface="Aptos"/>
              </a:defRPr>
            </a:pPr>
            <a:r>
              <a:t>Interpretation: inspect the histogram for concentration, spread, and unusually high spending values.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91F26"/>
                </a:solidFill>
                <a:latin typeface="Aptos"/>
              </a:defRPr>
            </a:pPr>
            <a:r>
              <a:t>Q3 | Literacy by Age and Sex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F6872"/>
                </a:solidFill>
                <a:latin typeface="Aptos"/>
              </a:defRPr>
            </a:pPr>
            <a:r>
              <a:t>Weighted literacy rates • Ages 10–64 • Rural KP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27080" cy="22860"/>
          </a:xfrm>
          <a:prstGeom prst="rect">
            <a:avLst/>
          </a:prstGeom>
          <a:solidFill>
            <a:srgbClr val="2B5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F687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2B5B87"/>
                </a:solidFill>
                <a:latin typeface="Aptos"/>
              </a:defRPr>
            </a:pPr>
            <a:r>
              <a:t>What is compared?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4800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191F26"/>
                </a:solidFill>
                <a:latin typeface="Aptos"/>
              </a:defRPr>
            </a:pPr>
            <a:r>
              <a:t>Literacy rates for men and women are compared across five-year age groups, using household weights.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74720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2B5B87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4800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191F26"/>
                </a:solidFill>
                <a:latin typeface="Aptos"/>
              </a:defRPr>
            </a:pPr>
            <a:r>
              <a:t>The vertical axis shows the weighted literacy percentage. The distance between the two lines shows the gender gap for each age group.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783080"/>
            <a:ext cx="5303520" cy="356616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B5B87"/>
                </a:solidFill>
                <a:latin typeface="Aptos"/>
              </a:defRPr>
            </a:pPr>
            <a:r>
              <a:t>Q3 Literacy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46120"/>
            <a:ext cx="4572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5F6872"/>
                </a:solidFill>
                <a:latin typeface="Aptos"/>
              </a:defRPr>
            </a:pPr>
            <a:r>
              <a:t>See figures/q3_literacy.svg</a:t>
            </a:r>
            <a:br/>
            <a:r>
              <a:t>in the GitHub repository.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872"/>
                </a:solidFill>
                <a:latin typeface="Aptos"/>
              </a:defRPr>
            </a:pPr>
            <a:r>
              <a:t>Note: rates are descriptive for the selected PSLM subset and are not causal estimates.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91F26"/>
                </a:solidFill>
                <a:latin typeface="Aptos"/>
              </a:defRPr>
            </a:pPr>
            <a:r>
              <a:t>Q4 | Improving a Scatterplot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F6872"/>
                </a:solidFill>
                <a:latin typeface="Aptos"/>
              </a:defRPr>
            </a:pPr>
            <a:r>
              <a:t>Default view vs. redesigned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27080" cy="22860"/>
          </a:xfrm>
          <a:prstGeom prst="rect">
            <a:avLst/>
          </a:prstGeom>
          <a:solidFill>
            <a:srgbClr val="2B5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F687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983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2B5B87"/>
                </a:solidFill>
                <a:latin typeface="Aptos"/>
              </a:defRPr>
            </a:pPr>
            <a:r>
              <a:t>Default scatterplot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4983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191F26"/>
                </a:solidFill>
                <a:latin typeface="Aptos"/>
              </a:defRPr>
            </a:pPr>
            <a:r>
              <a:t>Plots age against annual education spending. Overlapping points and extreme values can make patterns difficult to see.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66160"/>
            <a:ext cx="4983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2B5B87"/>
                </a:solidFill>
                <a:latin typeface="Aptos"/>
              </a:defRPr>
            </a:pPr>
            <a:r>
              <a:t>Redesign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49834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191F26"/>
                </a:solidFill>
                <a:latin typeface="Aptos"/>
              </a:defRPr>
            </a:pPr>
            <a:r>
              <a:t>• Transparent points reduce overplotting.</a:t>
            </a:r>
            <a:br/>
            <a:r>
              <a:t>• A smooth trend line helps show the overall pattern.</a:t>
            </a:r>
            <a:br/>
            <a:r>
              <a:t>• A restricted display range improves readability.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074920" cy="356616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4343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B5B87"/>
                </a:solidFill>
                <a:latin typeface="Aptos"/>
              </a:defRPr>
            </a:pPr>
            <a:r>
              <a:t>Q4 Figures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63240"/>
            <a:ext cx="4343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5F6872"/>
                </a:solidFill>
                <a:latin typeface="Aptos"/>
              </a:defRPr>
            </a:pPr>
            <a:r>
              <a:t>figures/q4_default.svg</a:t>
            </a:r>
            <a:br/>
            <a:r>
              <a:t>figures/q4_redesigned.svg</a:t>
            </a:r>
            <a:br/>
            <a:r>
              <a:t>(in GitHub after running the R scripts)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60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872"/>
                </a:solidFill>
                <a:latin typeface="Aptos"/>
              </a:defRPr>
            </a:pPr>
            <a:r>
              <a:t>Next: run the scripts to generate and verify the Q4 SVG outputs.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